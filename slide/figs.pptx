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E5548-92FE-43B9-9196-16DBF07FDC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3A4E1-DFB5-4594-94F0-13897AC146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0.png"/><Relationship Id="rId2" Type="http://schemas.openxmlformats.org/officeDocument/2006/relationships/image" Target="../media/image9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.png"/><Relationship Id="rId11" Type="http://schemas.openxmlformats.org/officeDocument/2006/relationships/image" Target="../media/image4.png"/><Relationship Id="rId10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3144" y="438539"/>
            <a:ext cx="11293147" cy="6268341"/>
            <a:chOff x="653144" y="438539"/>
            <a:chExt cx="11293147" cy="6268341"/>
          </a:xfrm>
        </p:grpSpPr>
        <p:sp>
          <p:nvSpPr>
            <p:cNvPr id="4" name="矩形 3"/>
            <p:cNvSpPr/>
            <p:nvPr/>
          </p:nvSpPr>
          <p:spPr>
            <a:xfrm>
              <a:off x="699796" y="499190"/>
              <a:ext cx="3834882" cy="14509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691284" y="438539"/>
              <a:ext cx="4594163" cy="163285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567543" y="2514600"/>
              <a:ext cx="6895321" cy="20760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53144" y="5066520"/>
              <a:ext cx="8864080" cy="163285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487607" y="5508170"/>
              <a:ext cx="1458684" cy="749559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箭头: 左弧形 8"/>
            <p:cNvSpPr/>
            <p:nvPr/>
          </p:nvSpPr>
          <p:spPr>
            <a:xfrm>
              <a:off x="746448" y="3429000"/>
              <a:ext cx="783771" cy="1637520"/>
            </a:xfrm>
            <a:prstGeom prst="curved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箭头: 右 9"/>
            <p:cNvSpPr/>
            <p:nvPr/>
          </p:nvSpPr>
          <p:spPr>
            <a:xfrm>
              <a:off x="9725611" y="5691673"/>
              <a:ext cx="659360" cy="419878"/>
            </a:xfrm>
            <a:prstGeom prst="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箭头: 右 10"/>
            <p:cNvSpPr/>
            <p:nvPr/>
          </p:nvSpPr>
          <p:spPr>
            <a:xfrm>
              <a:off x="4755504" y="1129002"/>
              <a:ext cx="659360" cy="419878"/>
            </a:xfrm>
            <a:prstGeom prst="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箭头: 右弧形 11"/>
            <p:cNvSpPr/>
            <p:nvPr/>
          </p:nvSpPr>
          <p:spPr>
            <a:xfrm>
              <a:off x="8500188" y="2071394"/>
              <a:ext cx="1150778" cy="1978092"/>
            </a:xfrm>
            <a:prstGeom prst="curvedLeftArrow">
              <a:avLst>
                <a:gd name="adj1" fmla="val 16821"/>
                <a:gd name="adj2" fmla="val 15015"/>
                <a:gd name="adj3" fmla="val 16082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箭头: 右弧形 12"/>
            <p:cNvSpPr/>
            <p:nvPr/>
          </p:nvSpPr>
          <p:spPr>
            <a:xfrm rot="843987">
              <a:off x="9892004" y="1456958"/>
              <a:ext cx="1458688" cy="3951738"/>
            </a:xfrm>
            <a:prstGeom prst="curvedLef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47749" y="879412"/>
              <a:ext cx="1026367" cy="6904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537539" y="646146"/>
              <a:ext cx="1689228" cy="2939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551340" y="1075354"/>
              <a:ext cx="1689228" cy="2939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2537539" y="1504562"/>
              <a:ext cx="1689228" cy="2939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096000" y="879412"/>
              <a:ext cx="1247192" cy="6904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7982928" y="648480"/>
              <a:ext cx="1991496" cy="2915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96728" y="1077688"/>
              <a:ext cx="1991495" cy="2915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7982928" y="1506896"/>
              <a:ext cx="1991494" cy="2915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2264621" y="3199230"/>
              <a:ext cx="1518350" cy="6904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4753752" y="2928642"/>
              <a:ext cx="3317228" cy="3055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4753751" y="3357850"/>
              <a:ext cx="3331029" cy="3055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4753752" y="3787059"/>
              <a:ext cx="3331028" cy="2904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387951" y="5444812"/>
              <a:ext cx="2982117" cy="9781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矩形 26"/>
            <p:cNvSpPr/>
            <p:nvPr/>
          </p:nvSpPr>
          <p:spPr>
            <a:xfrm>
              <a:off x="5189396" y="5336333"/>
              <a:ext cx="3805314" cy="2915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5203196" y="5765541"/>
              <a:ext cx="3805314" cy="2915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5189396" y="6194749"/>
              <a:ext cx="3819114" cy="2915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箭头连接符 30"/>
            <p:cNvCxnSpPr/>
            <p:nvPr/>
          </p:nvCxnSpPr>
          <p:spPr>
            <a:xfrm flipH="1">
              <a:off x="4121108" y="3081429"/>
              <a:ext cx="6326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H="1">
              <a:off x="4121108" y="3488083"/>
              <a:ext cx="6326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flipH="1">
              <a:off x="4121107" y="3889694"/>
              <a:ext cx="6326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H="1">
              <a:off x="2169369" y="789210"/>
              <a:ext cx="3681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flipH="1">
              <a:off x="2169369" y="1218418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flipH="1">
              <a:off x="2155567" y="1651518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H="1">
              <a:off x="7600957" y="782984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 flipH="1">
              <a:off x="7619612" y="1230082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H="1">
              <a:off x="7587156" y="1655411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H="1">
              <a:off x="4807994" y="5508170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 flipH="1">
              <a:off x="4819686" y="5905491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 flipH="1">
              <a:off x="4807994" y="6324987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699797" y="499190"/>
              <a:ext cx="3834882" cy="145090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5691284" y="438540"/>
              <a:ext cx="4594163" cy="164036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567542" y="2526262"/>
              <a:ext cx="6895321" cy="207606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653144" y="5066520"/>
              <a:ext cx="8864080" cy="164036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483928" y="6367870"/>
            <a:ext cx="11836589" cy="2976488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90B76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-926529" y="1802177"/>
            <a:ext cx="14657506" cy="2976488"/>
          </a:xfrm>
          <a:prstGeom prst="roundRect">
            <a:avLst/>
          </a:prstGeom>
          <a:solidFill>
            <a:srgbClr val="FEE8DB"/>
          </a:solidFill>
          <a:ln w="19050">
            <a:solidFill>
              <a:srgbClr val="F7CEC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2155567" y="-2281245"/>
            <a:ext cx="8493315" cy="2693013"/>
          </a:xfrm>
          <a:prstGeom prst="roundRect">
            <a:avLst/>
          </a:prstGeom>
          <a:solidFill>
            <a:srgbClr val="FFEBB2"/>
          </a:solidFill>
          <a:ln w="19050">
            <a:solidFill>
              <a:srgbClr val="FFE38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17169" y="-336406"/>
            <a:ext cx="3997167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Protection Method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294781" y="3903150"/>
            <a:ext cx="2690371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Landmark Age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69086" y="3911284"/>
            <a:ext cx="3487995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Number of Visitors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17878" y="3894106"/>
            <a:ext cx="2910542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Protection Costs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43566" y="3903965"/>
            <a:ext cx="2690373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Landmark Size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92396" y="8610886"/>
            <a:ext cx="3337176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On-Site Protection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81633" y="8610886"/>
            <a:ext cx="3852291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Relocation Protection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172514" y="6300645"/>
            <a:ext cx="42242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Solution Layer</a:t>
            </a:r>
            <a:endParaRPr lang="zh-CN" altLang="en-US" sz="3150" b="1" dirty="0">
              <a:solidFill>
                <a:schemeClr val="accent6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63014" y="-2366623"/>
            <a:ext cx="307619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4">
                    <a:lumMod val="75000"/>
                  </a:schemeClr>
                </a:solidFill>
                <a:latin typeface="Georgia" panose="02040502050405020303" pitchFamily="18" charset="0"/>
              </a:rPr>
              <a:t>Target Layer</a:t>
            </a:r>
            <a:endParaRPr lang="zh-CN" altLang="en-US" sz="3150" b="1" dirty="0">
              <a:solidFill>
                <a:schemeClr val="accent4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107425" y="1738249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rgbClr val="BD6426"/>
                </a:solidFill>
                <a:latin typeface="Georgia" panose="02040502050405020303" pitchFamily="18" charset="0"/>
              </a:rPr>
              <a:t>Criteria Layer</a:t>
            </a:r>
            <a:endParaRPr lang="zh-CN" altLang="en-US" sz="3150" b="1" dirty="0">
              <a:solidFill>
                <a:srgbClr val="BD6426"/>
              </a:solidFill>
              <a:latin typeface="Georgia" panose="02040502050405020303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828" y="2342596"/>
            <a:ext cx="1413847" cy="141384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5" r="5043"/>
          <a:stretch>
            <a:fillRect/>
          </a:stretch>
        </p:blipFill>
        <p:spPr>
          <a:xfrm>
            <a:off x="7180926" y="2428237"/>
            <a:ext cx="1771721" cy="163772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290" y="-1527113"/>
            <a:ext cx="1275638" cy="127563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09" y="2411572"/>
            <a:ext cx="1435943" cy="143594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108" y="2236205"/>
            <a:ext cx="1664563" cy="166456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249" y="7034346"/>
            <a:ext cx="1442083" cy="144208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456" y="6858000"/>
            <a:ext cx="1817490" cy="1817490"/>
          </a:xfrm>
          <a:prstGeom prst="rect">
            <a:avLst/>
          </a:prstGeom>
        </p:spPr>
      </p:pic>
      <p:cxnSp>
        <p:nvCxnSpPr>
          <p:cNvPr id="24" name="连接符: 曲线 23"/>
          <p:cNvCxnSpPr>
            <a:stCxn id="6" idx="2"/>
            <a:endCxn id="20" idx="0"/>
          </p:cNvCxnSpPr>
          <p:nvPr/>
        </p:nvCxnSpPr>
        <p:spPr>
          <a:xfrm rot="5400000">
            <a:off x="2794402" y="-1196252"/>
            <a:ext cx="1999804" cy="5215844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/>
          <p:cNvCxnSpPr>
            <a:stCxn id="6" idx="2"/>
            <a:endCxn id="17" idx="0"/>
          </p:cNvCxnSpPr>
          <p:nvPr/>
        </p:nvCxnSpPr>
        <p:spPr>
          <a:xfrm rot="16200000" flipH="1">
            <a:off x="8076574" y="-1262583"/>
            <a:ext cx="1930827" cy="527952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曲线 25"/>
          <p:cNvCxnSpPr>
            <a:stCxn id="6" idx="2"/>
            <a:endCxn id="18" idx="0"/>
          </p:cNvCxnSpPr>
          <p:nvPr/>
        </p:nvCxnSpPr>
        <p:spPr>
          <a:xfrm rot="16200000" flipH="1">
            <a:off x="6226266" y="587724"/>
            <a:ext cx="2016472" cy="1664561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曲线 26"/>
          <p:cNvCxnSpPr>
            <a:stCxn id="6" idx="2"/>
            <a:endCxn id="21" idx="0"/>
          </p:cNvCxnSpPr>
          <p:nvPr/>
        </p:nvCxnSpPr>
        <p:spPr>
          <a:xfrm rot="5400000">
            <a:off x="4487591" y="321568"/>
            <a:ext cx="1824433" cy="2004836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曲线 27"/>
          <p:cNvCxnSpPr>
            <a:stCxn id="8" idx="2"/>
            <a:endCxn id="22" idx="0"/>
          </p:cNvCxnSpPr>
          <p:nvPr/>
        </p:nvCxnSpPr>
        <p:spPr>
          <a:xfrm rot="16200000" flipH="1">
            <a:off x="1024962" y="4445015"/>
            <a:ext cx="2614773" cy="2563886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曲线 28"/>
          <p:cNvCxnSpPr>
            <a:stCxn id="8" idx="2"/>
            <a:endCxn id="23" idx="0"/>
          </p:cNvCxnSpPr>
          <p:nvPr/>
        </p:nvCxnSpPr>
        <p:spPr>
          <a:xfrm rot="16200000" flipH="1">
            <a:off x="3944088" y="1525888"/>
            <a:ext cx="2438428" cy="8225797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曲线 29"/>
          <p:cNvCxnSpPr>
            <a:stCxn id="11" idx="2"/>
            <a:endCxn id="22" idx="0"/>
          </p:cNvCxnSpPr>
          <p:nvPr/>
        </p:nvCxnSpPr>
        <p:spPr>
          <a:xfrm rot="5400000">
            <a:off x="2644542" y="5390135"/>
            <a:ext cx="2613958" cy="674462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曲线 30"/>
          <p:cNvCxnSpPr>
            <a:stCxn id="11" idx="2"/>
            <a:endCxn id="23" idx="0"/>
          </p:cNvCxnSpPr>
          <p:nvPr/>
        </p:nvCxnSpPr>
        <p:spPr>
          <a:xfrm rot="16200000" flipH="1">
            <a:off x="5563671" y="3145469"/>
            <a:ext cx="2437613" cy="498744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/>
          <p:cNvCxnSpPr>
            <a:stCxn id="9" idx="2"/>
            <a:endCxn id="22" idx="0"/>
          </p:cNvCxnSpPr>
          <p:nvPr/>
        </p:nvCxnSpPr>
        <p:spPr>
          <a:xfrm rot="5400000">
            <a:off x="4560369" y="3481630"/>
            <a:ext cx="2606639" cy="4498793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曲线 32"/>
          <p:cNvCxnSpPr>
            <a:stCxn id="9" idx="2"/>
            <a:endCxn id="23" idx="0"/>
          </p:cNvCxnSpPr>
          <p:nvPr/>
        </p:nvCxnSpPr>
        <p:spPr>
          <a:xfrm rot="16200000" flipH="1">
            <a:off x="7479495" y="5061294"/>
            <a:ext cx="2430294" cy="1163118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曲线 33"/>
          <p:cNvCxnSpPr>
            <a:stCxn id="10" idx="2"/>
            <a:endCxn id="22" idx="0"/>
          </p:cNvCxnSpPr>
          <p:nvPr/>
        </p:nvCxnSpPr>
        <p:spPr>
          <a:xfrm rot="5400000">
            <a:off x="6331813" y="1693008"/>
            <a:ext cx="2623817" cy="805885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曲线 34"/>
          <p:cNvCxnSpPr>
            <a:stCxn id="10" idx="2"/>
            <a:endCxn id="23" idx="0"/>
          </p:cNvCxnSpPr>
          <p:nvPr/>
        </p:nvCxnSpPr>
        <p:spPr>
          <a:xfrm rot="5400000">
            <a:off x="9250939" y="4435790"/>
            <a:ext cx="2447472" cy="2396948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41" b="20243"/>
          <a:stretch>
            <a:fillRect/>
          </a:stretch>
        </p:blipFill>
        <p:spPr>
          <a:xfrm>
            <a:off x="-1286586" y="1093399"/>
            <a:ext cx="6952493" cy="3583069"/>
          </a:xfrm>
          <a:prstGeom prst="rect">
            <a:avLst/>
          </a:prstGeom>
          <a:effectLst>
            <a:softEdge rad="16510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26789" t="5751" b="5595"/>
          <a:stretch>
            <a:fillRect/>
          </a:stretch>
        </p:blipFill>
        <p:spPr>
          <a:xfrm>
            <a:off x="8885688" y="-4066341"/>
            <a:ext cx="2141947" cy="1382658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-6715913" y="-3870719"/>
            <a:ext cx="3825141" cy="3375124"/>
          </a:xfrm>
          <a:prstGeom prst="roundRect">
            <a:avLst/>
          </a:prstGeom>
          <a:solidFill>
            <a:srgbClr val="D7E2C4"/>
          </a:solidFill>
          <a:ln>
            <a:solidFill>
              <a:srgbClr val="D7E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" name="矩形: 圆角 6"/>
          <p:cNvSpPr/>
          <p:nvPr/>
        </p:nvSpPr>
        <p:spPr>
          <a:xfrm>
            <a:off x="-2043045" y="-4290182"/>
            <a:ext cx="17193477" cy="4208176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8" name="矩形: 圆角 7"/>
          <p:cNvSpPr/>
          <p:nvPr/>
        </p:nvSpPr>
        <p:spPr>
          <a:xfrm>
            <a:off x="-6680716" y="1382959"/>
            <a:ext cx="3825141" cy="3375124"/>
          </a:xfrm>
          <a:prstGeom prst="roundRect">
            <a:avLst/>
          </a:prstGeom>
          <a:solidFill>
            <a:srgbClr val="D7E2C4"/>
          </a:solidFill>
          <a:ln>
            <a:solidFill>
              <a:srgbClr val="D7E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9" name="矩形: 圆角 8"/>
          <p:cNvSpPr/>
          <p:nvPr/>
        </p:nvSpPr>
        <p:spPr>
          <a:xfrm>
            <a:off x="-2033767" y="659674"/>
            <a:ext cx="17193477" cy="5124602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0" name="矩形: 圆角 9"/>
          <p:cNvSpPr/>
          <p:nvPr/>
        </p:nvSpPr>
        <p:spPr>
          <a:xfrm>
            <a:off x="-6699941" y="7742282"/>
            <a:ext cx="3825141" cy="3375124"/>
          </a:xfrm>
          <a:prstGeom prst="roundRect">
            <a:avLst/>
          </a:prstGeom>
          <a:solidFill>
            <a:srgbClr val="D7E2C4"/>
          </a:solidFill>
          <a:ln>
            <a:solidFill>
              <a:srgbClr val="D7E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1" name="矩形: 圆角 10"/>
          <p:cNvSpPr/>
          <p:nvPr/>
        </p:nvSpPr>
        <p:spPr>
          <a:xfrm>
            <a:off x="-2043047" y="6503552"/>
            <a:ext cx="17193477" cy="6127046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6710781" y="1017307"/>
            <a:ext cx="4657049" cy="4273115"/>
            <a:chOff x="7075841" y="6501324"/>
            <a:chExt cx="4642418" cy="4259690"/>
          </a:xfrm>
        </p:grpSpPr>
        <p:sp>
          <p:nvSpPr>
            <p:cNvPr id="13" name="矩形: 圆角 12"/>
            <p:cNvSpPr/>
            <p:nvPr/>
          </p:nvSpPr>
          <p:spPr>
            <a:xfrm>
              <a:off x="7075842" y="6501324"/>
              <a:ext cx="4642417" cy="4248896"/>
            </a:xfrm>
            <a:prstGeom prst="round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970"/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7075841" y="9992979"/>
              <a:ext cx="4642417" cy="768035"/>
            </a:xfrm>
            <a:prstGeom prst="roundRect">
              <a:avLst>
                <a:gd name="adj" fmla="val 36876"/>
              </a:avLst>
            </a:prstGeom>
            <a:solidFill>
              <a:srgbClr val="DAD8D9"/>
            </a:solidFill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970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/>
          <a:srcRect t="48924" r="43573"/>
          <a:stretch>
            <a:fillRect/>
          </a:stretch>
        </p:blipFill>
        <p:spPr>
          <a:xfrm>
            <a:off x="-1384591" y="-3777927"/>
            <a:ext cx="3910354" cy="2368776"/>
          </a:xfrm>
          <a:prstGeom prst="rect">
            <a:avLst/>
          </a:prstGeom>
        </p:spPr>
      </p:pic>
      <p:sp>
        <p:nvSpPr>
          <p:cNvPr id="16" name="矩形: 圆角 15"/>
          <p:cNvSpPr/>
          <p:nvPr/>
        </p:nvSpPr>
        <p:spPr>
          <a:xfrm>
            <a:off x="-1646623" y="-4059952"/>
            <a:ext cx="9431055" cy="368879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7" name="矩形: 圆角 16"/>
          <p:cNvSpPr/>
          <p:nvPr/>
        </p:nvSpPr>
        <p:spPr>
          <a:xfrm>
            <a:off x="-1646625" y="-1120001"/>
            <a:ext cx="9431055" cy="757292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636" y="-3885978"/>
            <a:ext cx="2365667" cy="236566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725" y="-3694876"/>
            <a:ext cx="1905000" cy="1905000"/>
          </a:xfrm>
          <a:prstGeom prst="rect">
            <a:avLst/>
          </a:prstGeom>
        </p:spPr>
      </p:pic>
      <p:sp>
        <p:nvSpPr>
          <p:cNvPr id="20" name="矩形: 圆角 19"/>
          <p:cNvSpPr/>
          <p:nvPr/>
        </p:nvSpPr>
        <p:spPr>
          <a:xfrm>
            <a:off x="3560665" y="7033450"/>
            <a:ext cx="6004615" cy="3695806"/>
          </a:xfrm>
          <a:prstGeom prst="roundRect">
            <a:avLst/>
          </a:prstGeom>
          <a:solidFill>
            <a:srgbClr val="FEE8DB"/>
          </a:solidFill>
          <a:ln w="19050">
            <a:solidFill>
              <a:srgbClr val="F7CEC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-1166118" y="7024249"/>
            <a:ext cx="4180974" cy="3695806"/>
          </a:xfrm>
          <a:prstGeom prst="roundRect">
            <a:avLst/>
          </a:prstGeom>
          <a:solidFill>
            <a:srgbClr val="FFEBB2"/>
          </a:solidFill>
          <a:ln w="19050">
            <a:solidFill>
              <a:srgbClr val="FFE38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-1077972" y="9543720"/>
            <a:ext cx="3997167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Protection Method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446450" y="10340011"/>
            <a:ext cx="2690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20303" pitchFamily="18" charset="0"/>
              </a:rPr>
              <a:t>Landmark Age</a:t>
            </a:r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00827" y="10354787"/>
            <a:ext cx="3487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20303" pitchFamily="18" charset="0"/>
              </a:rPr>
              <a:t>Number of Visitors</a:t>
            </a:r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13753" y="8831587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20303" pitchFamily="18" charset="0"/>
              </a:rPr>
              <a:t>Protection Costs</a:t>
            </a:r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381908" y="8836859"/>
            <a:ext cx="2690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20303" pitchFamily="18" charset="0"/>
              </a:rPr>
              <a:t>Landmark Size</a:t>
            </a:r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-550435" y="7098834"/>
            <a:ext cx="307619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4">
                    <a:lumMod val="75000"/>
                  </a:schemeClr>
                </a:solidFill>
                <a:latin typeface="Georgia" panose="02040502050405020303" pitchFamily="18" charset="0"/>
              </a:rPr>
              <a:t>Target Layer</a:t>
            </a:r>
            <a:endParaRPr lang="zh-CN" altLang="en-US" sz="3150" b="1" dirty="0">
              <a:solidFill>
                <a:schemeClr val="accent4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41910" y="7086876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rgbClr val="BD6426"/>
                </a:solidFill>
                <a:latin typeface="Georgia" panose="02040502050405020303" pitchFamily="18" charset="0"/>
              </a:rPr>
              <a:t>Criteria Layer</a:t>
            </a:r>
            <a:endParaRPr lang="zh-CN" altLang="en-US" sz="3150" b="1" dirty="0">
              <a:solidFill>
                <a:srgbClr val="BD6426"/>
              </a:solidFill>
              <a:latin typeface="Georgia" panose="02040502050405020303" pitchFamily="18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5" r="5043"/>
          <a:stretch>
            <a:fillRect/>
          </a:stretch>
        </p:blipFill>
        <p:spPr>
          <a:xfrm>
            <a:off x="4739634" y="9520083"/>
            <a:ext cx="1001288" cy="92555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71" y="8122154"/>
            <a:ext cx="1275638" cy="1275638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786" y="7816985"/>
            <a:ext cx="1059701" cy="1059701"/>
          </a:xfrm>
          <a:prstGeom prst="rect">
            <a:avLst/>
          </a:prstGeom>
        </p:spPr>
      </p:pic>
      <p:sp>
        <p:nvSpPr>
          <p:cNvPr id="32" name="矩形: 圆角 31"/>
          <p:cNvSpPr/>
          <p:nvPr/>
        </p:nvSpPr>
        <p:spPr>
          <a:xfrm>
            <a:off x="10049122" y="7033450"/>
            <a:ext cx="4469037" cy="3686605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90B76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562217" y="7896345"/>
            <a:ext cx="3337176" cy="940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On-Site</a:t>
            </a:r>
            <a:endParaRPr lang="en-US" altLang="zh-CN" sz="2755" dirty="0">
              <a:latin typeface="Georgia" panose="02040502050405020303" pitchFamily="18" charset="0"/>
            </a:endParaRPr>
          </a:p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Protection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2166922" y="9429844"/>
            <a:ext cx="2127766" cy="940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Relocation</a:t>
            </a:r>
            <a:endParaRPr lang="en-US" altLang="zh-CN" sz="2755" dirty="0">
              <a:latin typeface="Georgia" panose="02040502050405020303" pitchFamily="18" charset="0"/>
            </a:endParaRPr>
          </a:p>
          <a:p>
            <a:pPr algn="ctr"/>
            <a:r>
              <a:rPr lang="en-US" altLang="zh-CN" sz="2755" dirty="0">
                <a:latin typeface="Georgia" panose="02040502050405020303" pitchFamily="18" charset="0"/>
              </a:rPr>
              <a:t>Protection</a:t>
            </a:r>
            <a:endParaRPr lang="zh-CN" altLang="en-US" sz="2755" dirty="0">
              <a:latin typeface="Georgia" panose="02040502050405020303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174305" y="7108036"/>
            <a:ext cx="42242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Solution Layer</a:t>
            </a:r>
            <a:endParaRPr lang="zh-CN" altLang="en-US" sz="3150" b="1" dirty="0">
              <a:solidFill>
                <a:schemeClr val="accent6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66" y="7879433"/>
            <a:ext cx="957426" cy="957426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900" y="9383760"/>
            <a:ext cx="940514" cy="940514"/>
          </a:xfrm>
          <a:prstGeom prst="rect">
            <a:avLst/>
          </a:prstGeom>
        </p:spPr>
      </p:pic>
      <p:sp>
        <p:nvSpPr>
          <p:cNvPr id="38" name="矩形: 圆角 37"/>
          <p:cNvSpPr/>
          <p:nvPr/>
        </p:nvSpPr>
        <p:spPr>
          <a:xfrm>
            <a:off x="-1646626" y="6779172"/>
            <a:ext cx="16595478" cy="4852600"/>
          </a:xfrm>
          <a:prstGeom prst="roundRect">
            <a:avLst>
              <a:gd name="adj" fmla="val 16472"/>
            </a:avLst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39" name="矩形: 圆顶角 38"/>
          <p:cNvSpPr/>
          <p:nvPr/>
        </p:nvSpPr>
        <p:spPr>
          <a:xfrm>
            <a:off x="-1646626" y="10883370"/>
            <a:ext cx="16595478" cy="757292"/>
          </a:xfrm>
          <a:prstGeom prst="round2SameRect">
            <a:avLst>
              <a:gd name="adj1" fmla="val 16667"/>
              <a:gd name="adj2" fmla="val 50000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40" name="文本框 39"/>
          <p:cNvSpPr txBox="1"/>
          <p:nvPr/>
        </p:nvSpPr>
        <p:spPr>
          <a:xfrm>
            <a:off x="4400044" y="10922938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AHP MODEL</a:t>
            </a:r>
            <a:endParaRPr lang="zh-CN" altLang="en-US" sz="3150" b="1" dirty="0">
              <a:latin typeface="Georgia" panose="02040502050405020303" pitchFamily="18" charset="0"/>
            </a:endParaRPr>
          </a:p>
        </p:txBody>
      </p:sp>
      <p:cxnSp>
        <p:nvCxnSpPr>
          <p:cNvPr id="41" name="连接符: 肘形 40"/>
          <p:cNvCxnSpPr>
            <a:stCxn id="32" idx="2"/>
            <a:endCxn id="42" idx="3"/>
          </p:cNvCxnSpPr>
          <p:nvPr/>
        </p:nvCxnSpPr>
        <p:spPr>
          <a:xfrm rot="5400000">
            <a:off x="10710886" y="10553984"/>
            <a:ext cx="1406685" cy="1738826"/>
          </a:xfrm>
          <a:prstGeom prst="bentConnector2">
            <a:avLst/>
          </a:prstGeom>
          <a:ln w="76200">
            <a:solidFill>
              <a:srgbClr val="547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/>
          <p:cNvSpPr/>
          <p:nvPr/>
        </p:nvSpPr>
        <p:spPr>
          <a:xfrm>
            <a:off x="2748900" y="11813743"/>
            <a:ext cx="7795915" cy="625994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43" name="文本框 42"/>
          <p:cNvSpPr txBox="1"/>
          <p:nvPr/>
        </p:nvSpPr>
        <p:spPr>
          <a:xfrm>
            <a:off x="3299803" y="11858052"/>
            <a:ext cx="699716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Linear Programming Model</a:t>
            </a:r>
            <a:endParaRPr lang="zh-CN" altLang="en-US" sz="3150" b="1" dirty="0">
              <a:latin typeface="Georgia" panose="02040502050405020303" pitchFamily="18" charset="0"/>
            </a:endParaRPr>
          </a:p>
        </p:txBody>
      </p:sp>
      <p:cxnSp>
        <p:nvCxnSpPr>
          <p:cNvPr id="44" name="连接符: 肘形 43"/>
          <p:cNvCxnSpPr>
            <a:stCxn id="42" idx="1"/>
            <a:endCxn id="21" idx="2"/>
          </p:cNvCxnSpPr>
          <p:nvPr/>
        </p:nvCxnSpPr>
        <p:spPr>
          <a:xfrm rot="10800000">
            <a:off x="924370" y="10720056"/>
            <a:ext cx="1824531" cy="1406685"/>
          </a:xfrm>
          <a:prstGeom prst="bentConnector2">
            <a:avLst/>
          </a:prstGeom>
          <a:ln w="762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0" idx="3"/>
            <a:endCxn id="52" idx="1"/>
          </p:cNvCxnSpPr>
          <p:nvPr/>
        </p:nvCxnSpPr>
        <p:spPr>
          <a:xfrm flipV="1">
            <a:off x="1551109" y="8396677"/>
            <a:ext cx="3241093" cy="363296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0" idx="3"/>
            <a:endCxn id="29" idx="1"/>
          </p:cNvCxnSpPr>
          <p:nvPr/>
        </p:nvCxnSpPr>
        <p:spPr>
          <a:xfrm>
            <a:off x="1551109" y="8759973"/>
            <a:ext cx="3188525" cy="1222889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曲线 46"/>
          <p:cNvCxnSpPr>
            <a:stCxn id="31" idx="3"/>
            <a:endCxn id="37" idx="1"/>
          </p:cNvCxnSpPr>
          <p:nvPr/>
        </p:nvCxnSpPr>
        <p:spPr>
          <a:xfrm>
            <a:off x="8321487" y="8346836"/>
            <a:ext cx="2459413" cy="1507181"/>
          </a:xfrm>
          <a:prstGeom prst="curvedConnector3">
            <a:avLst>
              <a:gd name="adj1" fmla="val 58219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/>
          <p:cNvCxnSpPr>
            <a:stCxn id="31" idx="3"/>
            <a:endCxn id="36" idx="1"/>
          </p:cNvCxnSpPr>
          <p:nvPr/>
        </p:nvCxnSpPr>
        <p:spPr>
          <a:xfrm>
            <a:off x="8321487" y="8346836"/>
            <a:ext cx="2366279" cy="11310"/>
          </a:xfrm>
          <a:prstGeom prst="curvedConnector3">
            <a:avLst>
              <a:gd name="adj1" fmla="val 50000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曲线 48"/>
          <p:cNvCxnSpPr>
            <a:endCxn id="36" idx="1"/>
          </p:cNvCxnSpPr>
          <p:nvPr/>
        </p:nvCxnSpPr>
        <p:spPr>
          <a:xfrm flipV="1">
            <a:off x="8323199" y="8358146"/>
            <a:ext cx="2364567" cy="1524723"/>
          </a:xfrm>
          <a:prstGeom prst="curvedConnector3">
            <a:avLst>
              <a:gd name="adj1" fmla="val 60584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/>
          <p:cNvCxnSpPr>
            <a:endCxn id="37" idx="1"/>
          </p:cNvCxnSpPr>
          <p:nvPr/>
        </p:nvCxnSpPr>
        <p:spPr>
          <a:xfrm flipV="1">
            <a:off x="8321487" y="9854017"/>
            <a:ext cx="2459413" cy="11217"/>
          </a:xfrm>
          <a:prstGeom prst="curvedConnector3">
            <a:avLst>
              <a:gd name="adj1" fmla="val 50000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图片 5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030" y="9484717"/>
            <a:ext cx="898348" cy="898348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202" y="7980800"/>
            <a:ext cx="831753" cy="831753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-487957" y="-1014453"/>
            <a:ext cx="731922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Data Collection And Analysis</a:t>
            </a:r>
            <a:endParaRPr lang="zh-CN" altLang="en-US" sz="3150" b="1" dirty="0">
              <a:latin typeface="Georgia" panose="02040502050405020303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-558852" y="-1535444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20303" pitchFamily="18" charset="0"/>
              </a:rPr>
              <a:t>Extreme Weather</a:t>
            </a:r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250015" y="-1557956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20303" pitchFamily="18" charset="0"/>
              </a:rPr>
              <a:t>Weather</a:t>
            </a:r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898487" y="-1557956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20303" pitchFamily="18" charset="0"/>
              </a:rPr>
              <a:t>Insurance</a:t>
            </a:r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8467824" y="-4084349"/>
            <a:ext cx="2862232" cy="368879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58" name="矩形: 圆角 57"/>
          <p:cNvSpPr/>
          <p:nvPr/>
        </p:nvSpPr>
        <p:spPr>
          <a:xfrm>
            <a:off x="12078689" y="-4046793"/>
            <a:ext cx="2820706" cy="368879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59" name="矩形: 圆角 58"/>
          <p:cNvSpPr/>
          <p:nvPr/>
        </p:nvSpPr>
        <p:spPr>
          <a:xfrm>
            <a:off x="12078687" y="-1120001"/>
            <a:ext cx="2820706" cy="770451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60" name="箭头: 右 59"/>
          <p:cNvSpPr/>
          <p:nvPr/>
        </p:nvSpPr>
        <p:spPr>
          <a:xfrm>
            <a:off x="7857337" y="-2622702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箭头: 右 60"/>
          <p:cNvSpPr/>
          <p:nvPr/>
        </p:nvSpPr>
        <p:spPr>
          <a:xfrm>
            <a:off x="11411426" y="-2618739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/>
          <p:cNvSpPr txBox="1"/>
          <p:nvPr/>
        </p:nvSpPr>
        <p:spPr>
          <a:xfrm>
            <a:off x="7043871" y="4627941"/>
            <a:ext cx="41465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Risk  Assessment</a:t>
            </a:r>
            <a:endParaRPr lang="en-US" altLang="zh-CN" sz="3150" b="1" dirty="0">
              <a:latin typeface="Georgia" panose="02040502050405020303" pitchFamily="18" charset="0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 rotWithShape="1">
          <a:blip r:embed="rId13"/>
          <a:srcRect l="34264" t="8575" r="4662" b="14433"/>
          <a:stretch>
            <a:fillRect/>
          </a:stretch>
        </p:blipFill>
        <p:spPr>
          <a:xfrm>
            <a:off x="8889794" y="-2586228"/>
            <a:ext cx="2055190" cy="1381070"/>
          </a:xfrm>
          <a:prstGeom prst="rect">
            <a:avLst/>
          </a:prstGeom>
        </p:spPr>
      </p:pic>
      <p:sp>
        <p:nvSpPr>
          <p:cNvPr id="64" name="矩形 63"/>
          <p:cNvSpPr/>
          <p:nvPr/>
        </p:nvSpPr>
        <p:spPr>
          <a:xfrm>
            <a:off x="8807117" y="-4025272"/>
            <a:ext cx="2213672" cy="138265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8807117" y="-2587554"/>
            <a:ext cx="2213672" cy="138265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/>
          <p:cNvSpPr/>
          <p:nvPr/>
        </p:nvSpPr>
        <p:spPr>
          <a:xfrm>
            <a:off x="8467822" y="-1106894"/>
            <a:ext cx="2862232" cy="757292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67" name="文本框 66"/>
          <p:cNvSpPr txBox="1"/>
          <p:nvPr/>
        </p:nvSpPr>
        <p:spPr>
          <a:xfrm>
            <a:off x="7626393" y="-1027501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ARIMA</a:t>
            </a:r>
            <a:endParaRPr lang="zh-CN" altLang="en-US" sz="3150" b="1" dirty="0">
              <a:latin typeface="Georgia" panose="02040502050405020303" pitchFamily="18" charset="0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7020" y="990817"/>
            <a:ext cx="3359117" cy="3446263"/>
          </a:xfrm>
          <a:prstGeom prst="rect">
            <a:avLst/>
          </a:prstGeom>
        </p:spPr>
      </p:pic>
      <p:sp>
        <p:nvSpPr>
          <p:cNvPr id="69" name="矩形: 圆角 68"/>
          <p:cNvSpPr/>
          <p:nvPr/>
        </p:nvSpPr>
        <p:spPr>
          <a:xfrm>
            <a:off x="-1551544" y="1008497"/>
            <a:ext cx="7482410" cy="426228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0" name="矩形: 圆顶角 69"/>
          <p:cNvSpPr/>
          <p:nvPr/>
        </p:nvSpPr>
        <p:spPr>
          <a:xfrm>
            <a:off x="-1551544" y="4550275"/>
            <a:ext cx="7482410" cy="757292"/>
          </a:xfrm>
          <a:prstGeom prst="round2SameRect">
            <a:avLst>
              <a:gd name="adj1" fmla="val 16667"/>
              <a:gd name="adj2" fmla="val 50000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1" name="矩形: 圆角 70"/>
          <p:cNvSpPr/>
          <p:nvPr/>
        </p:nvSpPr>
        <p:spPr>
          <a:xfrm>
            <a:off x="12087970" y="1030076"/>
            <a:ext cx="2820706" cy="4236741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2" name="矩形: 圆角 71"/>
          <p:cNvSpPr/>
          <p:nvPr/>
        </p:nvSpPr>
        <p:spPr>
          <a:xfrm>
            <a:off x="12087968" y="4533130"/>
            <a:ext cx="2820706" cy="757292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3" name="文本框 72"/>
          <p:cNvSpPr txBox="1"/>
          <p:nvPr/>
        </p:nvSpPr>
        <p:spPr>
          <a:xfrm>
            <a:off x="-1469952" y="4625823"/>
            <a:ext cx="731922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Risk Index Analysis</a:t>
            </a:r>
            <a:endParaRPr lang="zh-CN" altLang="en-US" sz="3150" b="1" dirty="0">
              <a:latin typeface="Georgia" panose="02040502050405020303" pitchFamily="18" charset="0"/>
            </a:endParaRPr>
          </a:p>
        </p:txBody>
      </p:sp>
      <p:sp>
        <p:nvSpPr>
          <p:cNvPr id="74" name="箭头: 右 73"/>
          <p:cNvSpPr/>
          <p:nvPr/>
        </p:nvSpPr>
        <p:spPr>
          <a:xfrm>
            <a:off x="6048033" y="2899650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箭头: 右 74"/>
          <p:cNvSpPr/>
          <p:nvPr/>
        </p:nvSpPr>
        <p:spPr>
          <a:xfrm>
            <a:off x="11489491" y="2983032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12174686" y="4609708"/>
            <a:ext cx="270145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GLM Model</a:t>
            </a:r>
            <a:endParaRPr lang="en-US" altLang="zh-CN" sz="3150" b="1" dirty="0">
              <a:latin typeface="Georgia" panose="02040502050405020303" pitchFamily="18" charset="0"/>
            </a:endParaRP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264" y="1313362"/>
            <a:ext cx="1233551" cy="1233551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4276" y="2834862"/>
            <a:ext cx="1401776" cy="1401776"/>
          </a:xfrm>
          <a:prstGeom prst="rect">
            <a:avLst/>
          </a:prstGeom>
        </p:spPr>
      </p:pic>
      <p:cxnSp>
        <p:nvCxnSpPr>
          <p:cNvPr id="79" name="连接符: 肘形 78"/>
          <p:cNvCxnSpPr>
            <a:stCxn id="59" idx="2"/>
            <a:endCxn id="69" idx="0"/>
          </p:cNvCxnSpPr>
          <p:nvPr/>
        </p:nvCxnSpPr>
        <p:spPr>
          <a:xfrm rot="5400000">
            <a:off x="7160328" y="-5320216"/>
            <a:ext cx="1358047" cy="11299379"/>
          </a:xfrm>
          <a:prstGeom prst="bentConnector3">
            <a:avLst/>
          </a:prstGeom>
          <a:ln w="76200">
            <a:solidFill>
              <a:srgbClr val="D3B3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67001" y="-3468607"/>
            <a:ext cx="1597707" cy="1452461"/>
          </a:xfrm>
          <a:prstGeom prst="rect">
            <a:avLst/>
          </a:prstGeom>
        </p:spPr>
      </p:pic>
      <p:sp>
        <p:nvSpPr>
          <p:cNvPr id="81" name="文本框 80"/>
          <p:cNvSpPr txBox="1"/>
          <p:nvPr/>
        </p:nvSpPr>
        <p:spPr>
          <a:xfrm>
            <a:off x="-6915459" y="-1736073"/>
            <a:ext cx="41860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Insurance Company</a:t>
            </a:r>
            <a:endParaRPr lang="zh-CN" altLang="en-US" sz="3150" b="1" dirty="0">
              <a:latin typeface="Georgia" panose="02040502050405020303" pitchFamily="18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-6212761" y="3614639"/>
            <a:ext cx="288922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Real-estate Company</a:t>
            </a:r>
            <a:endParaRPr lang="zh-CN" altLang="en-US" sz="3150" b="1" dirty="0">
              <a:latin typeface="Georgia" panose="02040502050405020303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-6193564" y="10157100"/>
            <a:ext cx="288922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Community</a:t>
            </a:r>
            <a:endParaRPr lang="zh-CN" altLang="en-US" sz="3150" b="1" dirty="0">
              <a:latin typeface="Georgia" panose="02040502050405020303" pitchFamily="18" charset="0"/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79275" y="8456294"/>
            <a:ext cx="1995595" cy="1489250"/>
          </a:xfrm>
          <a:prstGeom prst="rect">
            <a:avLst/>
          </a:prstGeom>
        </p:spPr>
      </p:pic>
      <p:pic>
        <p:nvPicPr>
          <p:cNvPr id="85" name="Picture 16" descr="Lennar Announces On-Site Opening of Welcome Home Center at Arden, South ...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59840" y="1492012"/>
            <a:ext cx="4332929" cy="268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053" y="-3537304"/>
            <a:ext cx="2046463" cy="2046463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>
          <a:xfrm>
            <a:off x="13182219" y="-3448609"/>
            <a:ext cx="58589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bg1"/>
                </a:solidFill>
                <a:latin typeface="Georgia" panose="02040502050405020303" pitchFamily="18" charset="0"/>
              </a:rPr>
              <a:t>1</a:t>
            </a:r>
            <a:endParaRPr lang="zh-CN" altLang="en-US" sz="315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3196094" y="-2917913"/>
            <a:ext cx="585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Georgia" panose="02040502050405020303" pitchFamily="18" charset="0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3196094" y="-2442795"/>
            <a:ext cx="585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Georgia" panose="02040502050405020303" pitchFamily="18" charset="0"/>
              </a:rPr>
              <a:t>3</a:t>
            </a:r>
            <a:endParaRPr lang="zh-CN" altLang="en-US" sz="24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3196094" y="-1969863"/>
            <a:ext cx="585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Georgia" panose="02040502050405020303" pitchFamily="18" charset="0"/>
              </a:rPr>
              <a:t>4</a:t>
            </a:r>
            <a:endParaRPr lang="zh-CN" altLang="en-US" sz="24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2231059" y="-1027501"/>
            <a:ext cx="258870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20303" pitchFamily="18" charset="0"/>
              </a:rPr>
              <a:t>Evaluation</a:t>
            </a:r>
            <a:endParaRPr lang="zh-CN" altLang="en-US" sz="3150" b="1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WPS 演示</Application>
  <PresentationFormat>宽屏</PresentationFormat>
  <Paragraphs>78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等线</vt:lpstr>
      <vt:lpstr>Microsoft YaHei</vt:lpstr>
      <vt:lpstr>黑体</vt:lpstr>
      <vt:lpstr>Arial Unicode MS</vt:lpstr>
      <vt:lpstr>等线 Light</vt:lpstr>
      <vt:lpstr>Calibri</vt:lpstr>
      <vt:lpstr>Trebuchet MS</vt:lpstr>
      <vt:lpstr>Georgia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keyu yang</dc:creator>
  <cp:lastModifiedBy>梦子</cp:lastModifiedBy>
  <cp:revision>4</cp:revision>
  <dcterms:created xsi:type="dcterms:W3CDTF">2026-02-28T06:44:26Z</dcterms:created>
  <dcterms:modified xsi:type="dcterms:W3CDTF">2026-02-28T06:44:26Z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FCD2C7A4537D64BBC98EA269F82D371D_42</vt:lpwstr>
  </property>
  <property fmtid="{D5CDD505-2E9C-101B-9397-08002B2CF9AE}" pid="3" name="KSOProductBuildVer">
    <vt:lpwstr>2052-12.1.2.23578</vt:lpwstr>
  </property>
</Properties>
</file>